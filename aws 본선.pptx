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65" r:id="rId19"/>
    <p:sldId id="266" r:id="rId20"/>
    <p:sldId id="267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19ABD2-E638-4806-B086-638B0022A2C1}" v="3" dt="2025-12-23T09:11:45.2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5" autoAdjust="0"/>
    <p:restoredTop sz="94684"/>
  </p:normalViewPr>
  <p:slideViewPr>
    <p:cSldViewPr snapToGrid="0">
      <p:cViewPr>
        <p:scale>
          <a:sx n="135" d="100"/>
          <a:sy n="135" d="100"/>
        </p:scale>
        <p:origin x="37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AF8C79-E8B7-8849-827D-E95CC5D1C6E8}" type="datetimeFigureOut">
              <a:rPr kumimoji="1" lang="ko-KR" altLang="en-US" smtClean="0"/>
              <a:t>2025. 12. 23.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797C5-DEC4-624B-8DDC-8C6F90A55AE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39312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2797C5-DEC4-624B-8DDC-8C6F90A55AE1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178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4CDA2-57C9-141D-AC7F-522079AC7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1FDE31-DE8B-BE52-D8F6-8F9E985AC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99CB6B-18E4-03B0-C028-7EC752864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37A7-6A48-426B-8F99-8260D2382E5A}" type="datetimeFigureOut">
              <a:rPr lang="ko-KR" altLang="en-US" smtClean="0"/>
              <a:t>2025. 12. 23.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B2EC7B-99FF-9679-337E-D065CB570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83F566-B251-6FF1-1E35-3527538A4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76F4-FBEB-4818-8C04-5155C1FCC1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553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DEC1A-5E04-B5DC-FB4C-2E09D253A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33FEFD-C47F-417A-9514-6976300FA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A64714-2575-747E-4142-B84601656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37A7-6A48-426B-8F99-8260D2382E5A}" type="datetimeFigureOut">
              <a:rPr lang="ko-KR" altLang="en-US" smtClean="0"/>
              <a:t>2025. 12. 23.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40D9E5-DB1C-AE89-FC5D-A23952D54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57F520-5FA1-F0E9-7114-F596A70CB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76F4-FBEB-4818-8C04-5155C1FCC1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281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7BC3B-5291-6E25-F8E0-12B0CECB3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24A88D-46E2-924B-4C21-05AB2A8C1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2E033C-C9D7-1302-709E-9E2399CF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37A7-6A48-426B-8F99-8260D2382E5A}" type="datetimeFigureOut">
              <a:rPr lang="ko-KR" altLang="en-US" smtClean="0"/>
              <a:t>2025. 12. 23.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DDAB6E-1CE6-3610-753E-5B589C4ED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3A8D34-79E8-A27F-56DF-49C1295C1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76F4-FBEB-4818-8C04-5155C1FCC1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085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192E1-C9D3-43F0-B3B7-778840EBB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DA4010-621B-6E5F-2076-09153F36E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3237A5-4403-48D8-C6BD-A67EC79F3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8C1CF9-45E0-E510-BF24-1664AA609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37A7-6A48-426B-8F99-8260D2382E5A}" type="datetimeFigureOut">
              <a:rPr lang="ko-KR" altLang="en-US" smtClean="0"/>
              <a:t>2025. 12. 23.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1FDFCF-9123-C529-38A4-DE97BA9C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8B50AD-9637-FC7C-019F-6F157708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76F4-FBEB-4818-8C04-5155C1FCC1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870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EA5433-7A15-F663-0800-9BE796A7F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886113-7408-9516-732F-73529E366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BC6157E-0B1A-3A5A-5003-F823DB70DB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2B3538-C099-8B59-6A5A-88525B9542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F351F77-CA89-26BC-93A2-F1984ED497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282E66-0844-A33D-BB94-7AD261C5F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37A7-6A48-426B-8F99-8260D2382E5A}" type="datetimeFigureOut">
              <a:rPr lang="ko-KR" altLang="en-US" smtClean="0"/>
              <a:t>2025. 12. 23.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DEF1CF-BEF4-7C2E-06E6-AD6137A8A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3D49ED-D787-F941-2ABC-D543CCD46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76F4-FBEB-4818-8C04-5155C1FCC1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74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A9FAB-3C4F-26C4-7BFC-651FFCE61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14DF44-B233-FE2A-9E3E-E5943F354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37A7-6A48-426B-8F99-8260D2382E5A}" type="datetimeFigureOut">
              <a:rPr lang="ko-KR" altLang="en-US" smtClean="0"/>
              <a:t>2025. 12. 23.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4551044-AFAA-6D69-01AB-0445797C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D8AB3C-A55E-1279-B4C2-65E9E3E63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76F4-FBEB-4818-8C04-5155C1FCC1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57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1B3CE4C-EA61-D503-B884-477A67FD7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37A7-6A48-426B-8F99-8260D2382E5A}" type="datetimeFigureOut">
              <a:rPr lang="ko-KR" altLang="en-US" smtClean="0"/>
              <a:t>2025. 12. 23.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C10319F-3CC7-44B4-3054-081CBECF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3BD29-94C1-48AB-40A9-7F5672BBD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76F4-FBEB-4818-8C04-5155C1FCC1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895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7AB84-CB6D-8F2D-FC50-ABED83317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F015F4-EF55-691E-80D9-AAF5EF6C5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28A70A-F284-ABDE-D3B5-66C6343B4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275B99-84D8-35EE-CA6D-A11180736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37A7-6A48-426B-8F99-8260D2382E5A}" type="datetimeFigureOut">
              <a:rPr lang="ko-KR" altLang="en-US" smtClean="0"/>
              <a:t>2025. 12. 23.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7CD0E9-4237-BFF7-504E-E6209B5FB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B429A5-FD7F-62E0-66FD-060C951E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76F4-FBEB-4818-8C04-5155C1FCC1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886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489E68-378B-2F16-6E52-0E3519AA6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F10A9A1-ACD8-B5D9-19F5-DD62571038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4C74D6-0C98-29DD-AC8C-5250A4FAD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F560D5C-E2EF-09D9-40CF-FE5E29446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37A7-6A48-426B-8F99-8260D2382E5A}" type="datetimeFigureOut">
              <a:rPr lang="ko-KR" altLang="en-US" smtClean="0"/>
              <a:t>2025. 12. 23.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97D32F-047D-90BE-A4C8-4CF1A20AC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E160E3-A2F1-3C20-DEE1-4FA526BE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76F4-FBEB-4818-8C04-5155C1FCC1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779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26897D-6F75-92C4-87F3-3484F3A98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B9D4767-6086-A65D-B217-0AE27E7BD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9D9D80-7381-49C2-6AD9-8D64A803C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37A7-6A48-426B-8F99-8260D2382E5A}" type="datetimeFigureOut">
              <a:rPr lang="ko-KR" altLang="en-US" smtClean="0"/>
              <a:t>2025. 12. 23.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7970E4-7467-DFBA-D0FE-B72C9C29A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386469-9910-5EF7-6770-B32A40728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76F4-FBEB-4818-8C04-5155C1FCC1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403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E25D66-D37E-AB93-A61D-47E15B7C8B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EB9487-10C4-0028-E31A-546E5F19E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9A96ED-2E29-2170-DC95-471AFDB6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37A7-6A48-426B-8F99-8260D2382E5A}" type="datetimeFigureOut">
              <a:rPr lang="ko-KR" altLang="en-US" smtClean="0"/>
              <a:t>2025. 12. 23.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719900-5A4E-BA28-B489-9DB8AF69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BC2A4-A948-C745-80B8-8F2B3881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76F4-FBEB-4818-8C04-5155C1FCC1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781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B6604D-DA00-F5D0-D733-67C51033D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757FC7-C838-585D-9632-7B2F3DB80C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0AF0D7-1594-DD35-2620-01DC6A2D64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D37A7-6A48-426B-8F99-8260D2382E5A}" type="datetimeFigureOut">
              <a:rPr lang="ko-KR" altLang="en-US" smtClean="0"/>
              <a:t>2025. 12. 23.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B1D127-67FB-DF8A-C4B4-D1D1F4733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37BB8-4E4A-304B-AE68-6AC9180B5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076F4-FBEB-4818-8C04-5155C1FCC1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82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1536D5-C4F2-B0C4-05B6-6D02674F52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>
                <a:latin typeface="Batang" panose="02030600000101010101" pitchFamily="18" charset="-127"/>
                <a:ea typeface="Batang" panose="02030600000101010101" pitchFamily="18" charset="-127"/>
              </a:rPr>
              <a:t>AWS HPC </a:t>
            </a:r>
            <a:r>
              <a:rPr lang="ko-KR" altLang="en-US" dirty="0">
                <a:latin typeface="Batang" panose="02030600000101010101" pitchFamily="18" charset="-127"/>
                <a:ea typeface="Batang" panose="02030600000101010101" pitchFamily="18" charset="-127"/>
              </a:rPr>
              <a:t>기반 실시간 </a:t>
            </a:r>
            <a:br>
              <a:rPr lang="en-US" altLang="ko-KR" dirty="0"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ko-KR" altLang="en-US" dirty="0">
                <a:latin typeface="Batang" panose="02030600000101010101" pitchFamily="18" charset="-127"/>
                <a:ea typeface="Batang" panose="02030600000101010101" pitchFamily="18" charset="-127"/>
              </a:rPr>
              <a:t>지구 자기권 </a:t>
            </a:r>
            <a:r>
              <a:rPr lang="en-US" altLang="ko-KR" dirty="0">
                <a:latin typeface="Batang" panose="02030600000101010101" pitchFamily="18" charset="-127"/>
                <a:ea typeface="Batang" panose="02030600000101010101" pitchFamily="18" charset="-127"/>
              </a:rPr>
              <a:t>3D </a:t>
            </a:r>
            <a:r>
              <a:rPr lang="ko-KR" altLang="en-US" dirty="0">
                <a:latin typeface="Batang" panose="02030600000101010101" pitchFamily="18" charset="-127"/>
                <a:ea typeface="Batang" panose="02030600000101010101" pitchFamily="18" charset="-127"/>
              </a:rPr>
              <a:t>디지털 트윈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5BD7F0-3AD9-FC2C-D44D-EB69547C6E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ko-KR" altLang="en-US" dirty="0" err="1">
                <a:latin typeface="Batang" panose="02030600000101010101" pitchFamily="18" charset="-127"/>
                <a:ea typeface="Batang" panose="02030600000101010101" pitchFamily="18" charset="-127"/>
              </a:rPr>
              <a:t>동동색똥침</a:t>
            </a:r>
            <a:r>
              <a:rPr lang="en-US" altLang="ko-KR" dirty="0">
                <a:latin typeface="Batang" panose="02030600000101010101" pitchFamily="18" charset="-127"/>
                <a:ea typeface="Batang" panose="02030600000101010101" pitchFamily="18" charset="-127"/>
              </a:rPr>
              <a:t>(DDCAS)</a:t>
            </a:r>
          </a:p>
          <a:p>
            <a:r>
              <a:rPr lang="ko-KR" altLang="en-US" dirty="0">
                <a:latin typeface="Batang" panose="02030600000101010101" pitchFamily="18" charset="-127"/>
                <a:ea typeface="Batang" panose="02030600000101010101" pitchFamily="18" charset="-127"/>
              </a:rPr>
              <a:t>서동주</a:t>
            </a:r>
            <a:r>
              <a:rPr lang="en-US" altLang="ko-KR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dirty="0">
                <a:latin typeface="Batang" panose="02030600000101010101" pitchFamily="18" charset="-127"/>
                <a:ea typeface="Batang" panose="02030600000101010101" pitchFamily="18" charset="-127"/>
              </a:rPr>
              <a:t>김동건</a:t>
            </a:r>
            <a:r>
              <a:rPr lang="en-US" altLang="ko-KR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dirty="0">
                <a:latin typeface="Batang" panose="02030600000101010101" pitchFamily="18" charset="-127"/>
                <a:ea typeface="Batang" panose="02030600000101010101" pitchFamily="18" charset="-127"/>
              </a:rPr>
              <a:t>김우진</a:t>
            </a:r>
            <a:r>
              <a:rPr lang="en-US" altLang="ko-KR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dirty="0" err="1">
                <a:latin typeface="Batang" panose="02030600000101010101" pitchFamily="18" charset="-127"/>
                <a:ea typeface="Batang" panose="02030600000101010101" pitchFamily="18" charset="-127"/>
              </a:rPr>
              <a:t>홍정우</a:t>
            </a:r>
            <a:endParaRPr lang="ko-KR" altLang="en-US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248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566C49-7947-EB64-D87C-D38164244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Batang" panose="02030600000101010101" pitchFamily="18" charset="-127"/>
                <a:ea typeface="Batang" panose="02030600000101010101" pitchFamily="18" charset="-127"/>
              </a:rPr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777D0C-38EF-9024-349B-FF7B95819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개요</a:t>
            </a:r>
            <a:endParaRPr lang="en-US" altLang="ko-KR" sz="24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1028700" lvl="1" indent="-5715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Batang" panose="02030600000101010101" pitchFamily="18" charset="-127"/>
                <a:ea typeface="Batang" panose="02030600000101010101" pitchFamily="18" charset="-127"/>
              </a:rPr>
              <a:t>문제 제기 배경</a:t>
            </a:r>
            <a:endParaRPr lang="en-US" altLang="ko-KR" sz="20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1028700" lvl="1" indent="-5715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Batang" panose="02030600000101010101" pitchFamily="18" charset="-127"/>
                <a:ea typeface="Batang" panose="02030600000101010101" pitchFamily="18" charset="-127"/>
              </a:rPr>
              <a:t>핵심 니즈</a:t>
            </a:r>
            <a:endParaRPr lang="en-US" altLang="ko-KR" sz="20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솔루션</a:t>
            </a:r>
            <a:endParaRPr lang="en-US" altLang="ko-KR" sz="24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Batang" panose="02030600000101010101" pitchFamily="18" charset="-127"/>
                <a:ea typeface="Batang" panose="02030600000101010101" pitchFamily="18" charset="-127"/>
              </a:rPr>
              <a:t>솔루션 소개</a:t>
            </a:r>
            <a:endParaRPr lang="en-US" altLang="ko-KR" sz="20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Batang" panose="02030600000101010101" pitchFamily="18" charset="-127"/>
                <a:ea typeface="Batang" panose="02030600000101010101" pitchFamily="18" charset="-127"/>
              </a:rPr>
              <a:t>핵심 기능</a:t>
            </a:r>
            <a:endParaRPr lang="en-US" altLang="ko-KR" sz="20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000" dirty="0">
                <a:latin typeface="Batang" panose="02030600000101010101" pitchFamily="18" charset="-127"/>
                <a:ea typeface="Batang" panose="02030600000101010101" pitchFamily="18" charset="-127"/>
              </a:rPr>
              <a:t>기능 구현 방식</a:t>
            </a:r>
            <a:endParaRPr lang="en-US" altLang="ko-KR" sz="20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571500" indent="-571500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시장성 및 향후 계획</a:t>
            </a:r>
            <a:endParaRPr lang="en-US" altLang="ko-KR" sz="2400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7202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D33B04-2DED-7204-047F-B32DEFC3C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Batang" panose="02030600000101010101" pitchFamily="18" charset="-127"/>
                <a:ea typeface="Batang" panose="02030600000101010101" pitchFamily="18" charset="-127"/>
              </a:rPr>
              <a:t>문제 제기 배경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DC24E60-B88A-4ED9-01EA-FFE829DDAE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690688"/>
            <a:ext cx="5379539" cy="345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D079FC-BC3D-D6A1-C052-5840F1E2FE48}"/>
              </a:ext>
            </a:extLst>
          </p:cNvPr>
          <p:cNvSpPr txBox="1"/>
          <p:nvPr/>
        </p:nvSpPr>
        <p:spPr>
          <a:xfrm>
            <a:off x="627937" y="5275152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Fig1. </a:t>
            </a:r>
            <a:r>
              <a:rPr lang="ko-KR" altLang="en-US" sz="1800" b="0" i="0" u="none" strike="noStrike" dirty="0" err="1">
                <a:solidFill>
                  <a:srgbClr val="000000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전력망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손상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지자기 폭풍에 의해 손상된 변압기</a:t>
            </a:r>
            <a:r>
              <a:rPr lang="en-US" altLang="ko-KR" sz="1800" b="0" i="0" u="none" strike="noStrike" dirty="0">
                <a:solidFill>
                  <a:srgbClr val="000000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[1]</a:t>
            </a:r>
            <a:endParaRPr lang="ko-KR" altLang="en-US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4C61A-E7CB-0127-A74F-FF92D3C90329}"/>
              </a:ext>
            </a:extLst>
          </p:cNvPr>
          <p:cNvSpPr txBox="1"/>
          <p:nvPr/>
        </p:nvSpPr>
        <p:spPr>
          <a:xfrm>
            <a:off x="6531559" y="1765451"/>
            <a:ext cx="51486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>
                <a:latin typeface="Batang" panose="02030600000101010101" pitchFamily="18" charset="-127"/>
                <a:ea typeface="Batang" panose="02030600000101010101" pitchFamily="18" charset="-127"/>
              </a:rPr>
              <a:t>   현재 지구는 수많은 전력망과 통신을 기반으로 돌아가고 있다 하지만 이러한 인프라는 태양 활동 과정에서 발생한 태양풍에 의해 한순간에 무너질 위험이 있다</a:t>
            </a:r>
            <a:r>
              <a:rPr lang="en-US" altLang="ko-KR" sz="20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algn="just"/>
            <a:endParaRPr lang="en-US" altLang="ko-KR" sz="20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algn="just"/>
            <a:r>
              <a:rPr lang="ko-KR" altLang="en-US" sz="2000" dirty="0">
                <a:latin typeface="Batang" panose="02030600000101010101" pitchFamily="18" charset="-127"/>
                <a:ea typeface="Batang" panose="02030600000101010101" pitchFamily="18" charset="-127"/>
              </a:rPr>
              <a:t>   태양풍은 지구의 자기장을 찌그러트리고</a:t>
            </a:r>
            <a:r>
              <a:rPr lang="en-US" altLang="ko-KR" sz="2000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2000" dirty="0">
                <a:latin typeface="Batang" panose="02030600000101010101" pitchFamily="18" charset="-127"/>
                <a:ea typeface="Batang" panose="02030600000101010101" pitchFamily="18" charset="-127"/>
              </a:rPr>
              <a:t>이러한 변화에 의해 왼쪽 </a:t>
            </a:r>
            <a:r>
              <a:rPr lang="en-US" altLang="ko-KR" sz="2000" dirty="0">
                <a:latin typeface="Batang" panose="02030600000101010101" pitchFamily="18" charset="-127"/>
                <a:ea typeface="Batang" panose="02030600000101010101" pitchFamily="18" charset="-127"/>
              </a:rPr>
              <a:t>Fig 1</a:t>
            </a:r>
            <a:r>
              <a:rPr lang="ko-KR" altLang="en-US" sz="2000" dirty="0">
                <a:latin typeface="Batang" panose="02030600000101010101" pitchFamily="18" charset="-127"/>
                <a:ea typeface="Batang" panose="02030600000101010101" pitchFamily="18" charset="-127"/>
              </a:rPr>
              <a:t>과 같이 전력망을 손상시킨다</a:t>
            </a:r>
            <a:r>
              <a:rPr lang="en-US" altLang="ko-KR" sz="2000" dirty="0"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2000" dirty="0">
                <a:latin typeface="Batang" panose="02030600000101010101" pitchFamily="18" charset="-127"/>
                <a:ea typeface="Batang" panose="02030600000101010101" pitchFamily="18" charset="-127"/>
              </a:rPr>
              <a:t>이와 더불어 위성 통신 장애를 발생시켜 </a:t>
            </a:r>
            <a:r>
              <a:rPr lang="en-US" altLang="ko-KR" sz="2000" dirty="0">
                <a:latin typeface="Batang" panose="02030600000101010101" pitchFamily="18" charset="-127"/>
                <a:ea typeface="Batang" panose="02030600000101010101" pitchFamily="18" charset="-127"/>
              </a:rPr>
              <a:t>GPS </a:t>
            </a:r>
            <a:r>
              <a:rPr lang="ko-KR" altLang="en-US" sz="2000" dirty="0">
                <a:latin typeface="Batang" panose="02030600000101010101" pitchFamily="18" charset="-127"/>
                <a:ea typeface="Batang" panose="02030600000101010101" pitchFamily="18" charset="-127"/>
              </a:rPr>
              <a:t>오차를 증가시키는 문제도 발생한다</a:t>
            </a:r>
            <a:r>
              <a:rPr lang="en-US" altLang="ko-KR" sz="20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ko-KR" altLang="en-US" sz="2000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444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0255E-F87A-DBA5-7970-13F329452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Batang" panose="02030600000101010101" pitchFamily="18" charset="-127"/>
                <a:ea typeface="Batang" panose="02030600000101010101" pitchFamily="18" charset="-127"/>
              </a:rPr>
              <a:t>문제 제기 배경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E261A9-B783-727F-8F28-00CC576F4C25}"/>
              </a:ext>
            </a:extLst>
          </p:cNvPr>
          <p:cNvSpPr txBox="1"/>
          <p:nvPr/>
        </p:nvSpPr>
        <p:spPr>
          <a:xfrm>
            <a:off x="838199" y="1911735"/>
            <a:ext cx="89650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Batang" panose="02030600000101010101" pitchFamily="18" charset="-127"/>
                <a:ea typeface="Batang" panose="02030600000101010101" pitchFamily="18" charset="-127"/>
              </a:rPr>
              <a:t>기존 솔루션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A0EB8-2CB7-791B-3175-2C0C72EDE8A8}"/>
              </a:ext>
            </a:extLst>
          </p:cNvPr>
          <p:cNvSpPr txBox="1"/>
          <p:nvPr/>
        </p:nvSpPr>
        <p:spPr>
          <a:xfrm>
            <a:off x="2931928" y="1736771"/>
            <a:ext cx="60977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태양풍과 지구 자기장의 상호작용 확인용 고해상도 </a:t>
            </a:r>
            <a:r>
              <a:rPr lang="en-US" altLang="ko-KR" sz="2400" dirty="0">
                <a:latin typeface="Batang" panose="02030600000101010101" pitchFamily="18" charset="-127"/>
                <a:ea typeface="Batang" panose="02030600000101010101" pitchFamily="18" charset="-127"/>
              </a:rPr>
              <a:t>3</a:t>
            </a: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차원 시뮬레이션 모델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653EBC5-7D4C-9EAE-EABA-444A096C1923}"/>
              </a:ext>
            </a:extLst>
          </p:cNvPr>
          <p:cNvSpPr/>
          <p:nvPr/>
        </p:nvSpPr>
        <p:spPr>
          <a:xfrm>
            <a:off x="838200" y="1690689"/>
            <a:ext cx="9165335" cy="9248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E5BAC-59AE-9E3B-38B4-C03CA29C54F1}"/>
              </a:ext>
            </a:extLst>
          </p:cNvPr>
          <p:cNvSpPr txBox="1"/>
          <p:nvPr/>
        </p:nvSpPr>
        <p:spPr>
          <a:xfrm>
            <a:off x="838199" y="4120921"/>
            <a:ext cx="89650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latin typeface="Batang" panose="02030600000101010101" pitchFamily="18" charset="-127"/>
                <a:ea typeface="Batang" panose="02030600000101010101" pitchFamily="18" charset="-127"/>
              </a:rPr>
              <a:t>기존 솔루션</a:t>
            </a:r>
            <a:endParaRPr lang="en-US" altLang="ko-KR" sz="24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r>
              <a:rPr lang="ko-KR" altLang="en-US" sz="2400" b="1" dirty="0">
                <a:latin typeface="Batang" panose="02030600000101010101" pitchFamily="18" charset="-127"/>
                <a:ea typeface="Batang" panose="02030600000101010101" pitchFamily="18" charset="-127"/>
              </a:rPr>
              <a:t>의 문제점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717F3D-135D-539C-2D54-EAB6716F6908}"/>
              </a:ext>
            </a:extLst>
          </p:cNvPr>
          <p:cNvSpPr/>
          <p:nvPr/>
        </p:nvSpPr>
        <p:spPr>
          <a:xfrm>
            <a:off x="838200" y="2788814"/>
            <a:ext cx="9165336" cy="38222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218A8DB-C40D-9C8C-959E-B6A8E7184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3738" y="2742732"/>
            <a:ext cx="7109639" cy="4182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1. 높은 기술 장벽과 접근성 제한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lv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NASA, NOAA 등 소수 기관의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대형 슈퍼컴퓨터 독점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lv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일반 연구자 및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스타트업의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데이터 접근 원천 차단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2. 데이터 해석의 난해함 (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비직관성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)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lv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전문가만 이해 가능한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복잡한 수치(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Numerical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) 데이터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제공.</a:t>
            </a:r>
          </a:p>
          <a:p>
            <a:pPr lv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데이터가 있어도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직관적인 현상 파악 및 해석 불가능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3. 산업계 실질적 대응 도구 부재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lv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전력망·항공·위성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등 태양풍 위험에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직접 노출된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산업군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존재.</a:t>
            </a:r>
          </a:p>
          <a:p>
            <a:pPr lvl="1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즉각적인 상황 판단을 지원할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시각화 솔루션 부재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5381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0C5BD-B33D-975D-A38E-9B12884CB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740C9F-520F-6A68-151F-F5F36379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Batang" panose="02030600000101010101" pitchFamily="18" charset="-127"/>
                <a:ea typeface="Batang" panose="02030600000101010101" pitchFamily="18" charset="-127"/>
              </a:rPr>
              <a:t>핵심 니즈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1CBD5A-D59A-4C68-8D32-CCAA8EE46EBC}"/>
              </a:ext>
            </a:extLst>
          </p:cNvPr>
          <p:cNvSpPr txBox="1"/>
          <p:nvPr/>
        </p:nvSpPr>
        <p:spPr>
          <a:xfrm>
            <a:off x="1881298" y="2951946"/>
            <a:ext cx="8429404" cy="1284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dirty="0">
                <a:latin typeface="Batang" panose="02030600000101010101" pitchFamily="18" charset="-127"/>
                <a:ea typeface="Batang" panose="02030600000101010101" pitchFamily="18" charset="-127"/>
              </a:rPr>
              <a:t>태양풍과 지구 자기장의 상호작용을 누구나 쉽게 </a:t>
            </a:r>
            <a:endParaRPr lang="en-US" altLang="ko-KR" sz="28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800" dirty="0">
                <a:latin typeface="Batang" panose="02030600000101010101" pitchFamily="18" charset="-127"/>
                <a:ea typeface="Batang" panose="02030600000101010101" pitchFamily="18" charset="-127"/>
              </a:rPr>
              <a:t>접근하고 이해할 수 있는 형태의 데이터가 필요하다</a:t>
            </a:r>
          </a:p>
        </p:txBody>
      </p:sp>
    </p:spTree>
    <p:extLst>
      <p:ext uri="{BB962C8B-B14F-4D97-AF65-F5344CB8AC3E}">
        <p14:creationId xmlns:p14="http://schemas.microsoft.com/office/powerpoint/2010/main" val="1244746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3F599-A1F0-1932-6EFB-328800C72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27E29-3014-201D-D7D5-C2295C7E1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Batang" panose="02030600000101010101" pitchFamily="18" charset="-127"/>
                <a:ea typeface="Batang" panose="02030600000101010101" pitchFamily="18" charset="-127"/>
              </a:rPr>
              <a:t>솔루션 소개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3068FE-26D7-2342-0B01-4CA48EA6C0FA}"/>
              </a:ext>
            </a:extLst>
          </p:cNvPr>
          <p:cNvSpPr txBox="1"/>
          <p:nvPr/>
        </p:nvSpPr>
        <p:spPr>
          <a:xfrm>
            <a:off x="838198" y="1880681"/>
            <a:ext cx="10515600" cy="176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latin typeface="Batang" panose="02030600000101010101" pitchFamily="18" charset="-127"/>
                <a:ea typeface="Batang" panose="02030600000101010101" pitchFamily="18" charset="-127"/>
              </a:rPr>
              <a:t>“</a:t>
            </a:r>
            <a:r>
              <a:rPr lang="ko-KR" altLang="en-US" sz="2800" b="1" dirty="0">
                <a:latin typeface="Batang" panose="02030600000101010101" pitchFamily="18" charset="-127"/>
                <a:ea typeface="Batang" panose="02030600000101010101" pitchFamily="18" charset="-127"/>
              </a:rPr>
              <a:t>실시간 지구 자기권 </a:t>
            </a:r>
            <a:r>
              <a:rPr lang="en-US" altLang="ko-KR" sz="2800" b="1" dirty="0">
                <a:latin typeface="Batang" panose="02030600000101010101" pitchFamily="18" charset="-127"/>
                <a:ea typeface="Batang" panose="02030600000101010101" pitchFamily="18" charset="-127"/>
              </a:rPr>
              <a:t>3D </a:t>
            </a:r>
            <a:r>
              <a:rPr lang="ko-KR" altLang="en-US" sz="2800" b="1" dirty="0">
                <a:latin typeface="Batang" panose="02030600000101010101" pitchFamily="18" charset="-127"/>
                <a:ea typeface="Batang" panose="02030600000101010101" pitchFamily="18" charset="-127"/>
              </a:rPr>
              <a:t>디지털 트윈</a:t>
            </a:r>
            <a:r>
              <a:rPr lang="en-US" altLang="ko-KR" sz="2800" b="1" dirty="0">
                <a:latin typeface="Batang" panose="02030600000101010101" pitchFamily="18" charset="-127"/>
                <a:ea typeface="Batang" panose="02030600000101010101" pitchFamily="18" charset="-127"/>
              </a:rPr>
              <a:t>” </a:t>
            </a:r>
            <a:r>
              <a:rPr lang="ko-KR" altLang="en-US" sz="2800" dirty="0">
                <a:latin typeface="Batang" panose="02030600000101010101" pitchFamily="18" charset="-127"/>
                <a:ea typeface="Batang" panose="02030600000101010101" pitchFamily="18" charset="-127"/>
              </a:rPr>
              <a:t>이란</a:t>
            </a:r>
            <a:r>
              <a:rPr lang="en-US" altLang="ko-KR" sz="2800" dirty="0">
                <a:latin typeface="Batang" panose="02030600000101010101" pitchFamily="18" charset="-127"/>
                <a:ea typeface="Batang" panose="02030600000101010101" pitchFamily="18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태양풍의 실시간 데이터 기반으로 지구 자기장의 변화를 </a:t>
            </a:r>
            <a:r>
              <a:rPr lang="en-US" altLang="ko-KR" sz="2400" dirty="0">
                <a:latin typeface="Batang" panose="02030600000101010101" pitchFamily="18" charset="-127"/>
                <a:ea typeface="Batang" panose="02030600000101010101" pitchFamily="18" charset="-127"/>
              </a:rPr>
              <a:t>3D</a:t>
            </a: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 모델로 </a:t>
            </a:r>
            <a:r>
              <a:rPr lang="ko-KR" altLang="en-US" sz="2400" dirty="0" err="1">
                <a:latin typeface="Batang" panose="02030600000101010101" pitchFamily="18" charset="-127"/>
                <a:ea typeface="Batang" panose="02030600000101010101" pitchFamily="18" charset="-127"/>
              </a:rPr>
              <a:t>시각화하여</a:t>
            </a: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 보여주는 서비스이다</a:t>
            </a:r>
            <a:r>
              <a:rPr lang="en-US" altLang="ko-KR" sz="2400" dirty="0"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793C60-A4F9-F3B1-9B39-4019A584C2B9}"/>
              </a:ext>
            </a:extLst>
          </p:cNvPr>
          <p:cNvSpPr txBox="1"/>
          <p:nvPr/>
        </p:nvSpPr>
        <p:spPr>
          <a:xfrm>
            <a:off x="838198" y="4172634"/>
            <a:ext cx="1051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Batang" panose="02030600000101010101" pitchFamily="18" charset="-127"/>
                <a:ea typeface="Batang" panose="02030600000101010101" pitchFamily="18" charset="-127"/>
              </a:rPr>
              <a:t>핵심 기능</a:t>
            </a:r>
            <a:endParaRPr lang="en-US" altLang="ko-KR" sz="28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자기권 계면 </a:t>
            </a:r>
            <a:r>
              <a:rPr lang="en-US" altLang="ko-KR" sz="2400" dirty="0">
                <a:latin typeface="Batang" panose="02030600000101010101" pitchFamily="18" charset="-127"/>
                <a:ea typeface="Batang" panose="02030600000101010101" pitchFamily="18" charset="-127"/>
              </a:rPr>
              <a:t>3D </a:t>
            </a:r>
            <a:r>
              <a:rPr lang="ko-KR" altLang="en-US" sz="2400" dirty="0" err="1">
                <a:latin typeface="Batang" panose="02030600000101010101" pitchFamily="18" charset="-127"/>
                <a:ea typeface="Batang" panose="02030600000101010101" pitchFamily="18" charset="-127"/>
              </a:rPr>
              <a:t>랜더링</a:t>
            </a:r>
            <a:endParaRPr lang="en-US" altLang="ko-KR" sz="24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457200" indent="-457200">
              <a:buFont typeface="+mj-lt"/>
              <a:buAutoNum type="arabicPeriod"/>
            </a:pP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위험 구역 시각화</a:t>
            </a:r>
            <a:endParaRPr lang="en-US" altLang="ko-KR" sz="24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457200" indent="-457200">
              <a:buFont typeface="+mj-lt"/>
              <a:buAutoNum type="arabicPeriod"/>
            </a:pPr>
            <a:endParaRPr lang="en-US" altLang="ko-KR" sz="2000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0639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7443F-F0FC-69F5-624D-6A9E47D2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A0354-EE70-194D-1E1A-822A5397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b="1" dirty="0">
                <a:latin typeface="Batang" panose="02030600000101010101" pitchFamily="18" charset="-127"/>
                <a:ea typeface="Batang" panose="02030600000101010101" pitchFamily="18" charset="-127"/>
              </a:rPr>
              <a:t>자기권계면 </a:t>
            </a:r>
            <a:r>
              <a:rPr lang="en-US" altLang="ko-KR" b="1" dirty="0">
                <a:latin typeface="Batang" panose="02030600000101010101" pitchFamily="18" charset="-127"/>
                <a:ea typeface="Batang" panose="02030600000101010101" pitchFamily="18" charset="-127"/>
              </a:rPr>
              <a:t>3D </a:t>
            </a:r>
            <a:r>
              <a:rPr lang="ko-KR" altLang="en-US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랜더링</a:t>
            </a:r>
            <a:endParaRPr lang="ko-KR" altLang="en-US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F016C7-A7FE-C717-9BAE-715E844222EE}"/>
              </a:ext>
            </a:extLst>
          </p:cNvPr>
          <p:cNvSpPr txBox="1"/>
          <p:nvPr/>
        </p:nvSpPr>
        <p:spPr>
          <a:xfrm>
            <a:off x="838200" y="1690688"/>
            <a:ext cx="10515600" cy="1760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latin typeface="Batang" panose="02030600000101010101" pitchFamily="18" charset="-127"/>
                <a:ea typeface="Batang" panose="02030600000101010101" pitchFamily="18" charset="-127"/>
              </a:rPr>
              <a:t>구현 목적</a:t>
            </a:r>
            <a:endParaRPr lang="en-US" altLang="ko-KR" sz="24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   태양풍에 의해 찌그러지는 지구 자기권을 어려운 수치 데이터가 아닌 직관적인 시각 데이터로 확인하고자 하는 니즈 충족을 위한 기능이다</a:t>
            </a:r>
            <a:r>
              <a:rPr lang="en-US" altLang="ko-KR" sz="24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C8474-1491-F5A9-898C-A07ED3DA7C01}"/>
              </a:ext>
            </a:extLst>
          </p:cNvPr>
          <p:cNvSpPr txBox="1"/>
          <p:nvPr/>
        </p:nvSpPr>
        <p:spPr>
          <a:xfrm>
            <a:off x="838200" y="3556591"/>
            <a:ext cx="10515599" cy="2868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</a:rPr>
              <a:t>구현 </a:t>
            </a:r>
            <a:r>
              <a:rPr lang="ko-KR" altLang="en-US" sz="2800" b="1" dirty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방법</a:t>
            </a:r>
            <a:endParaRPr lang="en-US" altLang="ko-KR" sz="2800" b="1" dirty="0">
              <a:solidFill>
                <a:prstClr val="black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400" dirty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태양풍의 </a:t>
            </a:r>
            <a:r>
              <a:rPr lang="ko-KR" altLang="en-US" sz="2400" dirty="0" err="1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동압과</a:t>
            </a:r>
            <a:r>
              <a:rPr lang="ko-KR" altLang="en-US" sz="2400" dirty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지구 자기압의 평형을 계산하는 압력 균형 모델을 이용하여 지구 자기장의 변화 계산</a:t>
            </a:r>
            <a:endParaRPr lang="en-US" altLang="ko-KR" sz="2400" dirty="0">
              <a:solidFill>
                <a:prstClr val="black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</a:rPr>
              <a:t>계산 결과와 </a:t>
            </a:r>
            <a:r>
              <a:rPr kumimoji="0" lang="en-US" altLang="ko-KR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</a:rPr>
              <a:t>Three.js</a:t>
            </a:r>
            <a:r>
              <a:rPr kumimoji="0" lang="ko-KR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</a:rPr>
              <a:t>를 이용하여 </a:t>
            </a:r>
            <a:r>
              <a:rPr kumimoji="0" lang="ko-KR" altLang="en-US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</a:rPr>
              <a:t>자기권계면을</a:t>
            </a:r>
            <a:r>
              <a:rPr kumimoji="0" lang="ko-KR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</a:rPr>
              <a:t> 시각화</a:t>
            </a:r>
            <a:endParaRPr kumimoji="0" lang="en-US" altLang="ko-KR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400" dirty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압축되고</a:t>
            </a:r>
            <a:r>
              <a:rPr lang="en-US" altLang="ko-KR" sz="2400" dirty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2400" dirty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늘어지는 자기장 모양을 정밀 묘사</a:t>
            </a:r>
            <a:endParaRPr kumimoji="0" lang="en-US" altLang="ko-KR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4950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C0B16-C245-AF5F-BA06-93A05B515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12701-E724-2E87-5003-8BA2AE6A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Batang" panose="02030600000101010101" pitchFamily="18" charset="-127"/>
                <a:ea typeface="Batang" panose="02030600000101010101" pitchFamily="18" charset="-127"/>
              </a:rPr>
              <a:t>위험 구역 시각화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2FC3F-4D89-F852-848D-85069A022C6A}"/>
              </a:ext>
            </a:extLst>
          </p:cNvPr>
          <p:cNvSpPr txBox="1"/>
          <p:nvPr/>
        </p:nvSpPr>
        <p:spPr>
          <a:xfrm>
            <a:off x="838199" y="1489520"/>
            <a:ext cx="10515600" cy="231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latin typeface="Batang" panose="02030600000101010101" pitchFamily="18" charset="-127"/>
                <a:ea typeface="Batang" panose="02030600000101010101" pitchFamily="18" charset="-127"/>
              </a:rPr>
              <a:t>구현 목적</a:t>
            </a:r>
            <a:endParaRPr lang="en-US" altLang="ko-KR" sz="24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   스타트업 종사자의 경우 어느 지역이 위험한지를 아는 것이 중요하다</a:t>
            </a:r>
            <a:r>
              <a:rPr lang="en-US" altLang="ko-KR" sz="2400" dirty="0"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하지만 </a:t>
            </a:r>
            <a:r>
              <a:rPr lang="ko-KR" altLang="en-US" sz="2400" dirty="0" err="1">
                <a:latin typeface="Batang" panose="02030600000101010101" pitchFamily="18" charset="-127"/>
                <a:ea typeface="Batang" panose="02030600000101010101" pitchFamily="18" charset="-127"/>
              </a:rPr>
              <a:t>자기권계면의</a:t>
            </a: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US" altLang="ko-KR" sz="2400" dirty="0">
                <a:latin typeface="Batang" panose="02030600000101010101" pitchFamily="18" charset="-127"/>
                <a:ea typeface="Batang" panose="02030600000101010101" pitchFamily="18" charset="-127"/>
              </a:rPr>
              <a:t>3D </a:t>
            </a: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모델만을 가지고 이를 판단하기 어려울 수도 있다</a:t>
            </a:r>
            <a:r>
              <a:rPr lang="en-US" altLang="ko-KR" sz="2400" dirty="0"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2400" dirty="0">
                <a:latin typeface="Batang" panose="02030600000101010101" pitchFamily="18" charset="-127"/>
                <a:ea typeface="Batang" panose="02030600000101010101" pitchFamily="18" charset="-127"/>
              </a:rPr>
              <a:t>그렇기에 이를 바로 알려주는 기능이다</a:t>
            </a:r>
            <a:r>
              <a:rPr lang="en-US" altLang="ko-KR" sz="24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1A079-7636-FE76-9780-940037510EC0}"/>
              </a:ext>
            </a:extLst>
          </p:cNvPr>
          <p:cNvSpPr txBox="1"/>
          <p:nvPr/>
        </p:nvSpPr>
        <p:spPr>
          <a:xfrm>
            <a:off x="838198" y="3803936"/>
            <a:ext cx="10515599" cy="2868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</a:rPr>
              <a:t>구현 </a:t>
            </a:r>
            <a:r>
              <a:rPr lang="ko-KR" altLang="en-US" sz="2800" b="1" dirty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방법</a:t>
            </a:r>
            <a:endParaRPr lang="en-US" altLang="ko-KR" sz="2800" b="1" dirty="0">
              <a:solidFill>
                <a:prstClr val="black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</a:rPr>
              <a:t>앞의 계산을 바탕으로 자기장의 크게 변화하는 위치를 계산</a:t>
            </a:r>
            <a:endParaRPr kumimoji="0" lang="en-US" altLang="ko-KR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Batang" panose="02030600000101010101" pitchFamily="18" charset="-127"/>
              </a:rPr>
              <a:t>이를 바탕으로 특정 시간을 입력하였을 때 위험 구역을 붉은색 쉘을 이용하여 표시</a:t>
            </a:r>
            <a:endParaRPr kumimoji="0" lang="en-US" altLang="ko-KR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342900" marR="0" lvl="0" indent="-342900" algn="just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2400" dirty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또한 특정 시간</a:t>
            </a:r>
            <a:r>
              <a:rPr lang="en-US" altLang="ko-KR" sz="2400" dirty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2400" dirty="0">
                <a:solidFill>
                  <a:prstClr val="black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특정 구역을 검색하였을 때 위험도를 퍼센트로 표시</a:t>
            </a:r>
            <a:endParaRPr kumimoji="0" lang="en-US" altLang="ko-KR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7337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75178-2362-E571-F1BC-E61316B7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377" y="142364"/>
            <a:ext cx="10515600" cy="1325563"/>
          </a:xfrm>
        </p:spPr>
        <p:txBody>
          <a:bodyPr>
            <a:normAutofit/>
          </a:bodyPr>
          <a:lstStyle/>
          <a:p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실시간 물리 엔진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–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Chapman-Ferraro 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모델 동적 구현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416AA829-48F4-1ABE-D57D-F6C9D348656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712076" y="1094567"/>
                <a:ext cx="11012423" cy="60986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자기권계면의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정의: 태양풍의 밀어내는 힘(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동압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)과 지구 자기장의 버티는 힘(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자기압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)이 정확히 균형을 이루는 3차원 경계면.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이 경계면의 위치 </a:t>
                </a:r>
                <a:r>
                  <a:rPr kumimoji="0" lang="en-US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r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을 구하기 위해 아래의 물리 법칙을 실시간으로 연산함.</a:t>
                </a:r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ko-KR" altLang="en-US" sz="18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 지배 방정식</a:t>
                </a:r>
                <a:endParaRPr lang="en-US" altLang="ko-KR" sz="18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marL="457200" lvl="1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ko-KR" alt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태양풍 </a:t>
                </a:r>
                <a:r>
                  <a:rPr kumimoji="0" lang="ko-KR" altLang="en-US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동압</a:t>
                </a:r>
                <a:r>
                  <a:rPr kumimoji="0" lang="en-US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:</a:t>
                </a:r>
                <a:r>
                  <a:rPr kumimoji="0" lang="ko-KR" alt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sw</m:t>
                        </m:r>
                      </m:sub>
                    </m:sSub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=</m:t>
                    </m:r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sSup>
                      <m:sSupPr>
                        <m:ctrl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</m:oMath>
                </a14:m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marL="457200" lvl="1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ko-KR" altLang="en-US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지구 </a:t>
                </a:r>
                <a:r>
                  <a:rPr lang="ko-KR" altLang="en-US" sz="1400" dirty="0" err="1">
                    <a:latin typeface="Batang" panose="02030600000101010101" pitchFamily="18" charset="-127"/>
                    <a:ea typeface="Batang" panose="02030600000101010101" pitchFamily="18" charset="-127"/>
                  </a:rPr>
                  <a:t>자기압</a:t>
                </a:r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mtClean="0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b="0" i="1" smtClean="0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800" b="0" i="1" smtClean="0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mag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(2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B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dipole</m:t>
                            </m:r>
                          </m:sub>
                        </m:sSub>
                        <m:sSup>
                          <m:sSup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</m:ctrlPr>
                          </m:sSup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2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2</m:t>
                        </m:r>
                        <m:sSubSup>
                          <m:sSubSup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B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0</m:t>
                            </m:r>
                          </m:sub>
                          <m:sup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0</m:t>
                            </m:r>
                          </m:sub>
                        </m:sSub>
                      </m:den>
                    </m:f>
                    <m:r>
                      <a:rPr lang="en-US" altLang="ko-KR" sz="1800" b="0" i="1" smtClean="0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(</m:t>
                    </m:r>
                    <m:sSup>
                      <m:sSupPr>
                        <m:ctrlPr>
                          <a:rPr lang="en-US" altLang="ko-KR" sz="1800" b="0" i="1" smtClean="0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ko-KR" sz="1800" i="1" smtClean="0">
                                    <a:latin typeface="Cambria Math" panose="02040503050406030204" pitchFamily="18" charset="0"/>
                                    <a:ea typeface="Batang" panose="02030600000101010101" pitchFamily="18" charset="-127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Batang" panose="02030600000101010101" pitchFamily="18" charset="-127"/>
                                  </a:rPr>
                                  <m:t>R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1800" b="0" i="1" smtClean="0">
                                    <a:latin typeface="Cambria Math" panose="02040503050406030204" pitchFamily="18" charset="0"/>
                                    <a:ea typeface="Batang" panose="02030600000101010101" pitchFamily="18" charset="-127"/>
                                  </a:rPr>
                                  <m:t>E</m:t>
                                </m:r>
                              </m:sub>
                            </m:sSub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Batang" panose="02030600000101010101" pitchFamily="18" charset="-127"/>
                              </a:rPr>
                              <m:t>r</m:t>
                            </m:r>
                          </m:den>
                        </m:f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)</m:t>
                        </m:r>
                      </m:e>
                      <m:sup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sz="1400" dirty="0"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marL="457200" lvl="1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ko-KR" altLang="en-US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평형 방정식 및 거리 도축</a:t>
                </a:r>
                <a:r>
                  <a:rPr kumimoji="0" lang="en-US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r</m:t>
                        </m:r>
                      </m:e>
                      <m:sub>
                        <m: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0</m:t>
                        </m:r>
                      </m:sub>
                    </m:sSub>
                    <m:r>
                      <a:rPr kumimoji="0" lang="en-US" altLang="ko-KR" sz="1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≈[</m:t>
                    </m:r>
                    <m:f>
                      <m:fPr>
                        <m:ctrl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sSubSup>
                          <m:sSubSupPr>
                            <m:ctrlPr>
                              <a:rPr kumimoji="0" lang="en-US" altLang="ko-KR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kumimoji="0" lang="en-US" altLang="ko-KR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kumimoji="0" lang="en-US" altLang="ko-KR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kumimoji="0" lang="en-US" altLang="ko-KR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kumimoji="0" lang="en-US" altLang="ko-KR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kumimoji="0" lang="en-US" altLang="ko-KR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kumimoji="0" lang="en-US" altLang="ko-KR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0" lang="en-US" altLang="ko-KR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</m:t>
                            </m:r>
                          </m:e>
                          <m:sup>
                            <m:r>
                              <a:rPr kumimoji="0" lang="en-US" altLang="ko-KR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]</m:t>
                        </m:r>
                      </m:e>
                      <m:sup>
                        <m:f>
                          <m:fPr>
                            <m:ctrlPr>
                              <a:rPr kumimoji="0" lang="en-US" altLang="ko-KR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ko-KR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altLang="ko-KR" sz="1800" b="0" i="1" u="none" strike="noStrike" cap="none" normalizeH="0" baseline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p>
                    </m:sSup>
                    <m:sSub>
                      <m:sSubPr>
                        <m:ctrl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ko-KR" sz="18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endParaRPr kumimoji="0" lang="en-US" altLang="ko-K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sz="1800" b="1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3D </a:t>
                </a:r>
                <a:r>
                  <a:rPr lang="ko-KR" altLang="en-US" sz="1800" b="1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좌표 산출 및 렌더링 알고리즘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400" b="1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Data Ingestion:</a:t>
                </a:r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 NASA DSCOVR </a:t>
                </a:r>
                <a:r>
                  <a:rPr lang="ko-KR" altLang="en-US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위성에서 실시간 </a:t>
                </a:r>
                <a14:m>
                  <m:oMath xmlns:m="http://schemas.openxmlformats.org/officeDocument/2006/math"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  <m:r>
                      <a:rPr lang="en-US" altLang="ko-KR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값 수신</a:t>
                </a:r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400" b="1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Calculation:</a:t>
                </a:r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:r>
                  <a:rPr lang="ko-KR" altLang="en-US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위 수식을 </a:t>
                </a:r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AWS EC2</a:t>
                </a:r>
                <a:r>
                  <a:rPr lang="ko-KR" altLang="en-US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에서 연산하여 </a:t>
                </a:r>
                <a:r>
                  <a:rPr lang="en-US" altLang="ko-KR" sz="11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r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 (</a:t>
                </a:r>
                <a:r>
                  <a:rPr lang="ko-KR" altLang="en-US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자기권 코 부분 거리</a:t>
                </a:r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) </a:t>
                </a:r>
                <a:r>
                  <a:rPr lang="ko-KR" altLang="en-US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산출</a:t>
                </a:r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400" b="1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Mesh Generation:</a:t>
                </a:r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:r>
                  <a:rPr lang="ko-KR" altLang="en-US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산출된 </a:t>
                </a:r>
                <a:r>
                  <a:rPr lang="en-US" altLang="ko-KR" sz="11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4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r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  <a:ea typeface="Batang" panose="02030600000101010101" pitchFamily="18" charset="-127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를 기준으로 자기권의 </a:t>
                </a:r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3</a:t>
                </a:r>
                <a:r>
                  <a:rPr lang="ko-KR" altLang="en-US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차원 곡면 좌표 생성 </a:t>
                </a:r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(Ellipsoid Model </a:t>
                </a:r>
                <a:r>
                  <a:rPr lang="ko-KR" altLang="en-US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적용</a:t>
                </a:r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).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ko-KR" sz="1400" b="1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Visualization:</a:t>
                </a:r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:r>
                  <a:rPr lang="en-US" altLang="ko-KR" sz="1400" dirty="0" err="1">
                    <a:latin typeface="Batang" panose="02030600000101010101" pitchFamily="18" charset="-127"/>
                    <a:ea typeface="Batang" panose="02030600000101010101" pitchFamily="18" charset="-127"/>
                  </a:rPr>
                  <a:t>Three.js</a:t>
                </a:r>
                <a:r>
                  <a:rPr lang="ko-KR" altLang="en-US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를 통해 웹 클라이언트에 렌더링</a:t>
                </a:r>
                <a:r>
                  <a:rPr lang="en-US" altLang="ko-KR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416AA829-48F4-1ABE-D57D-F6C9D34865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712076" y="1094567"/>
                <a:ext cx="11012423" cy="6098657"/>
              </a:xfrm>
              <a:prstGeom prst="rect">
                <a:avLst/>
              </a:prstGeom>
              <a:blipFill>
                <a:blip r:embed="rId2"/>
                <a:stretch>
                  <a:fillRect l="-57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483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28A2C-9721-0A0E-06D3-574335E53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B2C69-A950-A096-5FBB-D33714EDD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실시간 물리 엔진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–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실시간 위성 데이터 동기화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CE3C525D-33E2-0645-BBDB-F4C004ACB50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838200" y="1775134"/>
                <a:ext cx="10959059" cy="48751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1. 데이터 소스: NASA </a:t>
                </a:r>
                <a:r>
                  <a:rPr kumimoji="0" lang="ko-KR" altLang="ko-K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Deep</a:t>
                </a: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:r>
                  <a:rPr kumimoji="0" lang="ko-KR" altLang="ko-K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Space</a:t>
                </a: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:r>
                  <a:rPr kumimoji="0" lang="ko-KR" altLang="ko-K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Satellites</a:t>
                </a:r>
                <a:endParaRPr kumimoji="0" lang="ko-KR" altLang="ko-KR" sz="1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marL="457200" lvl="1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DSCOVR </a:t>
                </a:r>
                <a:r>
                  <a:rPr kumimoji="0" lang="en-US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:</a:t>
                </a:r>
                <a:r>
                  <a:rPr kumimoji="0" lang="ko-KR" altLang="en-US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NASA와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NOAA가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운용하는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심우주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기상 관측 위성.</a:t>
                </a:r>
              </a:p>
              <a:p>
                <a:pPr marL="457200" lvl="1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ACE: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태양풍의 성분을 정밀 분석하는 고해상도 탐사 위성.</a:t>
                </a:r>
              </a:p>
              <a:p>
                <a:pPr marL="457200" lvl="1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위치: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지구로부터 약 150만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km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떨어진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라그랑주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점(L1)에 위치하여, 태양풍이 지구에 도달하기 약 15~60분 전</a:t>
                </a:r>
                <a:r>
                  <a:rPr lang="ko-KR" altLang="en-US" sz="1400" dirty="0">
                    <a:latin typeface="Batang" panose="02030600000101010101" pitchFamily="18" charset="-127"/>
                    <a:ea typeface="Batang" panose="02030600000101010101" pitchFamily="18" charset="-127"/>
                  </a:rPr>
                  <a:t> 데이터 수집</a:t>
                </a:r>
                <a:endPara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2. 수집 데이터 및 주기</a:t>
                </a:r>
              </a:p>
              <a:p>
                <a:pPr marL="457200" lvl="1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수신 주기: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1분 단위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의 초정밀 실시간 스트리밍.</a:t>
                </a:r>
              </a:p>
              <a:p>
                <a:pPr marL="457200" lvl="1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핵심 입력 변수</a:t>
                </a:r>
                <a:r>
                  <a:rPr kumimoji="0" lang="en-US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:</a:t>
                </a:r>
                <a:endParaRPr kumimoji="0" lang="ko-KR" altLang="ko-KR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  <a:p>
                <a:pPr marL="914400" lvl="2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태양풍 속도 :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물리 엔진의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동압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계산에 사용.</a:t>
                </a:r>
              </a:p>
              <a:p>
                <a:pPr marL="914400" lvl="2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태양풍 밀도 :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압력 평형 계산의 핵심 변수.</a:t>
                </a:r>
              </a:p>
              <a:p>
                <a:pPr marL="914400" lvl="2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행성간 자기장 :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자기권의 찌그러짐 방향 결정.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3. 데이터 파이프라인 </a:t>
                </a:r>
              </a:p>
              <a:p>
                <a:pPr marL="457200" lvl="1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NASA </a:t>
                </a: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Open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API 요청 </a:t>
                </a:r>
                <a14:m>
                  <m:oMath xmlns:m="http://schemas.openxmlformats.org/officeDocument/2006/math">
                    <m:r>
                      <a:rPr kumimoji="0" lang="ko-KR" altLang="ko-KR" sz="1400" b="0" i="1" u="none" strike="noStrike" cap="none" normalizeH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→</m:t>
                    </m:r>
                  </m:oMath>
                </a14:m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AWS </a:t>
                </a:r>
                <a:r>
                  <a:rPr kumimoji="0" lang="ko-KR" altLang="ko-KR" sz="1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Lambda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 </a:t>
                </a:r>
                <a14:m>
                  <m:oMath xmlns:m="http://schemas.openxmlformats.org/officeDocument/2006/math">
                    <m:r>
                      <a:rPr lang="ko-KR" altLang="ko-KR" sz="1400" i="1" dirty="0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→ </m:t>
                    </m:r>
                    <m:r>
                      <a:rPr lang="ko-KR" altLang="en-US" sz="1400" b="0" i="1" dirty="0" smtClean="0">
                        <a:latin typeface="Cambria Math" panose="02040503050406030204" pitchFamily="18" charset="0"/>
                        <a:ea typeface="Batang" panose="02030600000101010101" pitchFamily="18" charset="-127"/>
                      </a:rPr>
                      <m:t> </m:t>
                    </m:r>
                  </m:oMath>
                </a14:m>
                <a:r>
                  <a:rPr kumimoji="0" lang="ko-KR" altLang="ko-KR" sz="1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Physics</a:t>
                </a:r>
                <a:r>
                  <a:rPr kumimoji="0" lang="ko-KR" altLang="ko-KR" sz="14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</a:t>
                </a:r>
                <a:r>
                  <a:rPr kumimoji="0" lang="ko-KR" altLang="ko-KR" sz="14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Engine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.</a:t>
                </a:r>
              </a:p>
              <a:p>
                <a:pPr marL="457200" lvl="1" indent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ko-KR" altLang="ko-KR" sz="14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NASA의</a:t>
                </a:r>
                <a:r>
                  <a:rPr kumimoji="0" lang="ko-KR" altLang="ko-KR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</a:rPr>
                  <a:t> 위성 데이터를 물리 엔진의 입력 변수로 즉시 매핑하여 시뮬레이션의 정확도 확보.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atang" panose="02030600000101010101" pitchFamily="18" charset="-127"/>
                  <a:ea typeface="Batang" panose="02030600000101010101" pitchFamily="18" charset="-127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CE3C525D-33E2-0645-BBDB-F4C004ACB5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838200" y="1775134"/>
                <a:ext cx="10959059" cy="4875117"/>
              </a:xfrm>
              <a:prstGeom prst="rect">
                <a:avLst/>
              </a:prstGeom>
              <a:blipFill>
                <a:blip r:embed="rId2"/>
                <a:stretch>
                  <a:fillRect l="-57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42907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ED57D-3B7E-A8B0-9694-E04EFA26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4D941A-05FD-A5E4-EB54-5B6BAA00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실시간 물리 엔진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–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자기장 변형 시뮬레이션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2C0E7A-4F69-E0C8-E2A5-AA515F25CA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7784"/>
            <a:ext cx="8509061" cy="552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1. 실시간 압력 반응 연산 </a:t>
            </a:r>
          </a:p>
          <a:p>
            <a:pPr marL="457200" lvl="1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입력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실시간으로 변동하는 태양풍의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동압데이터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457200" lvl="1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연산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물리 엔진을 통해 지구가 받는 압력의 총량을 계산하고, 평형 상태가 깨지는 순간을 감지.</a:t>
            </a:r>
          </a:p>
          <a:p>
            <a:pPr marL="457200" lvl="1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원리: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태양풍이 강할수록 지구 자기장은 더 강하게 짓눌린다.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2. 동적 형상 변화 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태양풍의 강약에 따라 변화하는 자기권의 형태를 두 가지 측면에서 정밀 묘사함.</a:t>
            </a:r>
          </a:p>
          <a:p>
            <a:pPr marL="457200" lvl="1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Day-side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압축: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914400" lvl="2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태양을 향한 면이 강력한 태양풍에 의해 지구 표면 쪽으로 밀려 들어옴.</a:t>
            </a:r>
          </a:p>
          <a:p>
            <a:pPr marL="914400" lvl="2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자기권계면의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부분이 지구 대기권 가까이 압축되는 위험 상황 시각화.</a:t>
            </a:r>
          </a:p>
          <a:p>
            <a:pPr marL="457200" lvl="1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Night-side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늘어짐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914400" lvl="2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태양 반대편의 자기권 꼬리가 길게 늘어지는 현상 구현.</a:t>
            </a:r>
          </a:p>
          <a:p>
            <a:pPr marL="914400" lvl="2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에너지 축적에 따른 자기력선 재결합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전조 증상 표현.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3.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고정밀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3D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메쉬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생성</a:t>
            </a:r>
          </a:p>
          <a:p>
            <a:pPr marL="457200" lvl="1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단순한 구 형태가 아닌, 압력 불균형에 의해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찌그러진 비대칭 형상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을 3D로 정밀하게 렌더링.</a:t>
            </a:r>
          </a:p>
          <a:p>
            <a:pPr marL="457200" lvl="1" indent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사용자는 360도 회전을 통해 어느 부위가 가장 취약해졌는지 직관적으로 확인 가능.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3746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8D2F4-4623-9CEC-28E7-D19446092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0C322-FD31-E961-E88A-F72839D49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AWS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기반 초고속 연산 시스템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-HPC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클러스터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45A4CD-9412-3DE3-59C1-9670D59F07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23769"/>
            <a:ext cx="10981267" cy="5555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1.</a:t>
            </a: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HPC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Infrastructure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인스턴스 선정: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Amazon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EC2 C5n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인스턴스 도입.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선정 이유: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C5n은 높은 네트워크 대역폭을 지원하여, 노드 간 데이터 전송이 빈번한 HPC 워크로드에 최적화된 모델임.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2. MPI 기반 병렬 처리 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기술 구현: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MPI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프로토콜을 활용한 병렬 컴퓨팅 환경 구축.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작동 원리: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914400" lvl="2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복잡한 지구 자기권의 3차원 공간을 수만 개의 격자로 분할.</a:t>
            </a:r>
          </a:p>
          <a:p>
            <a:pPr marL="914400" lvl="2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분할된 격자 데이터를 여러 컴퓨팅 노드에 분산하여 할당.</a:t>
            </a:r>
          </a:p>
          <a:p>
            <a:pPr marL="914400" lvl="2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각 노드가 담당 구역의 벡터 필드 연산을 동시에 수행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3. 실시간 연산 파이프라인 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목표: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위성 데이터 수신 즉시 지연 없는 3D 모델링 구현.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결과: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단일 서버로는 불가능한 고해상도 벡터 연산을 클러스터링을 통해 실시간으로 처리 완료.</a:t>
            </a:r>
          </a:p>
        </p:txBody>
      </p:sp>
    </p:spTree>
    <p:extLst>
      <p:ext uri="{BB962C8B-B14F-4D97-AF65-F5344CB8AC3E}">
        <p14:creationId xmlns:p14="http://schemas.microsoft.com/office/powerpoint/2010/main" val="2311057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3EAA7-98DD-3538-32CB-062E985F3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06B34-5125-E646-8214-605FD1CB4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65536" cy="1325563"/>
          </a:xfrm>
        </p:spPr>
        <p:txBody>
          <a:bodyPr>
            <a:normAutofit/>
          </a:bodyPr>
          <a:lstStyle/>
          <a:p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AWS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기반 초고속 연산 시스템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-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이벤트 기반 </a:t>
            </a:r>
            <a:r>
              <a:rPr kumimoji="1" lang="ko-KR" altLang="en-US" sz="32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오토스케일링</a:t>
            </a:r>
            <a:endParaRPr kumimoji="1" lang="ko-KR" altLang="en-US" sz="32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9FEA68-2A44-63A6-EA19-18A40A1126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366112"/>
            <a:ext cx="10643558" cy="4693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1. 평상시: 비용 효율화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상태: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태양 활동이 평온한 시기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동작: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최소한의 서버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인스턴스만을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유지하여 운영. 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효과: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24시간 풀가동하는 슈퍼컴퓨터 대비 불필요한 유휴 자원을 제거하여 클라우드 비용 절감.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2. 비상시: AWS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Lambda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트리거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감지: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태양 표면의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흑점 폭발,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플레어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, 코로나 질량 방출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등 급격한 이벤트 발생. 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동작: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이벤트 감지 즉시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AWS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Lambda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트리거되어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컴퓨팅 노드 확장 명령 실행.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3. 대응: 지연 없는 처리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확장: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폭증하는 데이터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연산량을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감당하기 위해 EC2 컴퓨팅 노드를 즉각적으로 수평 확장. 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결과: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예측 불가능한 태양풍 급증 상황에서도 시스템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셧다운이나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지연없이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실시간 시뮬레이션 지속. </a:t>
            </a:r>
          </a:p>
        </p:txBody>
      </p:sp>
    </p:spTree>
    <p:extLst>
      <p:ext uri="{BB962C8B-B14F-4D97-AF65-F5344CB8AC3E}">
        <p14:creationId xmlns:p14="http://schemas.microsoft.com/office/powerpoint/2010/main" val="3983384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E16A-97C7-4895-763D-16C91BD5F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53D8C2-5B64-D84A-67BD-C476AA59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31880" cy="1325563"/>
          </a:xfrm>
        </p:spPr>
        <p:txBody>
          <a:bodyPr>
            <a:normAutofit/>
          </a:bodyPr>
          <a:lstStyle/>
          <a:p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AWS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기반 초고속 연산 시스템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-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서버리스 데이터 파이프라인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473AFC-FA29-EEFE-F9E9-D2A59A50F0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09513"/>
            <a:ext cx="11231880" cy="4262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1.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Amazon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S3 기반 Data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Lake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구축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Centralized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Repository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NASA 위성에서 수신되는 데이터를 가공하지 않은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Raw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Data 형태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로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Amazon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S3에 즉시 저장.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단일 진실 공급원 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실시간 시뮬레이션에 사용되는 데이터와 과거 이력 데이터를 한곳에 통합 관리하여 데이터의 일관성 확보.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2. 확장성 및 데이터 영구 보존 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무제한 확장: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태양 활동 급증으로 데이터 유입량이 폭증해도 용량 제한 없이 유연하게 저장 가능.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데이터 안전성: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99.999999999% (11-nines)의 데이터 내구성을 보장하는 S3를 통해, 중요한 우주 기상 데이터를 유실 없이 보존.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3. 미래 가치: AI/ML 학습 데이터 셋 확보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Ready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for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AI: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저장된 데이터는 향후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AWS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SageMaker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활용한 '태양 활동 예측 AI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모델'의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학습 데이터로 바로 활용 가능.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Serverless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Architecture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별도의 스토리지 서버를 구축 없이, 데이터 수집-저장-관리가 자동화된 서버리스 파이프라인 구현.</a:t>
            </a:r>
          </a:p>
        </p:txBody>
      </p:sp>
    </p:spTree>
    <p:extLst>
      <p:ext uri="{BB962C8B-B14F-4D97-AF65-F5344CB8AC3E}">
        <p14:creationId xmlns:p14="http://schemas.microsoft.com/office/powerpoint/2010/main" val="32572498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48C11-599D-E08A-DC18-4B3C2DB6C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01F63-C129-4B50-5D52-71B7BFD8F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웹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3D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1" lang="ko-KR" altLang="en-US" sz="32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비주얼라이즈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–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WebGL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기반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3D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렌더링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48FF01-4FE0-9AC6-4D1F-39D4F23308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0099"/>
            <a:ext cx="10962736" cy="4262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1.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Three.js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기반 웹 렌더링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기술 스택: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WebGL을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기반으로 한 표준 자바스크립트 라이브러리인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Three.js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채택.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접근성 극대화: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고사양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전용 프로그램 설치 없이,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일반 웹 브라우저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만 있으면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어디서든접속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가능.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2. 동적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메쉬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생성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데이터 매핑: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AWS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HPC에서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계산된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자기권계면의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3차원 좌표 데이터를 받아, 브라우저 상에서 실시간으로 3D 형상을 생성.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시각화: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뼈대 뷰와 표면 뷰를 동시에 제공하여, 자기권의 구조적 변화를 입체적으로 확인 가능.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3. 클라이언트 사이드 가속 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GPU 활용: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사용자의 기기에 장착된 GPU 자원을 활용하여 렌더링 부하 분산.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인터랙티브 UX: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사용자가 마우스로 자유롭게 회전, 확대, 이동하며 자기권의 찌그러짐을 다각도에서 분석 가능.</a:t>
            </a:r>
          </a:p>
        </p:txBody>
      </p:sp>
    </p:spTree>
    <p:extLst>
      <p:ext uri="{BB962C8B-B14F-4D97-AF65-F5344CB8AC3E}">
        <p14:creationId xmlns:p14="http://schemas.microsoft.com/office/powerpoint/2010/main" val="3305529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C3DFC-7253-F4FB-12AE-0B3B6DE1D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78306-465B-53C4-20D1-F96B2152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웹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3D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1" lang="ko-KR" altLang="en-US" sz="32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비주얼라이즈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–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동적 위험 구역 시각화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B7919F-FA14-1690-79CF-1C307DF0C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311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1800" b="1" dirty="0">
                <a:latin typeface="Batang" panose="02030600000101010101" pitchFamily="18" charset="-127"/>
                <a:ea typeface="Batang" panose="02030600000101010101" pitchFamily="18" charset="-127"/>
              </a:rPr>
              <a:t>1. </a:t>
            </a:r>
            <a:r>
              <a:rPr lang="ko-KR" altLang="en-US" sz="1800" b="1" dirty="0">
                <a:latin typeface="Batang" panose="02030600000101010101" pitchFamily="18" charset="-127"/>
                <a:ea typeface="Batang" panose="02030600000101010101" pitchFamily="18" charset="-127"/>
              </a:rPr>
              <a:t>정지궤도 위성 보호막 이탈 감지</a:t>
            </a:r>
            <a:endParaRPr lang="en-US" altLang="ko-KR" sz="18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lvl="1">
              <a:lnSpc>
                <a:spcPct val="200000"/>
              </a:lnSpc>
            </a:pP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배경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 정지궤도 위성은 고도 약 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36,000km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에 위치하여 지구 자기장의 보호를 받음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위험 상황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 강력한 태양풍으로 인해 </a:t>
            </a:r>
            <a:r>
              <a:rPr lang="ko-KR" altLang="en-US" sz="1400" dirty="0" err="1">
                <a:latin typeface="Batang" panose="02030600000101010101" pitchFamily="18" charset="-127"/>
                <a:ea typeface="Batang" panose="02030600000101010101" pitchFamily="18" charset="-127"/>
              </a:rPr>
              <a:t>자기권계면이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 안쪽으로 밀려들어오면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Magnetopause Crossing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현상 발생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시각화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 위성 궤도가 자기권 밖으로 벗어나는 지점을 </a:t>
            </a: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붉은색 경고 구간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으로 표시하여 보호 모드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전환 유도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b="1" dirty="0">
                <a:latin typeface="Batang" panose="02030600000101010101" pitchFamily="18" charset="-127"/>
                <a:ea typeface="Batang" panose="02030600000101010101" pitchFamily="18" charset="-127"/>
              </a:rPr>
              <a:t>2. </a:t>
            </a:r>
            <a:r>
              <a:rPr lang="ko-KR" altLang="en-US" sz="1800" b="1" dirty="0">
                <a:latin typeface="Batang" panose="02030600000101010101" pitchFamily="18" charset="-127"/>
                <a:ea typeface="Batang" panose="02030600000101010101" pitchFamily="18" charset="-127"/>
              </a:rPr>
              <a:t>고에너지 방사선 피폭 구역</a:t>
            </a:r>
            <a:endParaRPr lang="en-US" altLang="ko-KR" sz="18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lvl="1">
              <a:lnSpc>
                <a:spcPct val="200000"/>
              </a:lnSpc>
            </a:pP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데이터 연산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 태양에서 날아오는 고에너지 입자의 밀도가 임계치를 초과하는 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3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차원 공간을 실시간 계산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Volumetric </a:t>
            </a: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렌더링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 위험 구역을 단순한 선이 아닌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입체적인 </a:t>
            </a: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붉은색 </a:t>
            </a:r>
            <a:r>
              <a:rPr lang="ko-KR" altLang="en-US" sz="14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쉘</a:t>
            </a:r>
            <a:r>
              <a:rPr lang="ko-KR" altLang="en-US" sz="1400" dirty="0" err="1">
                <a:latin typeface="Batang" panose="02030600000101010101" pitchFamily="18" charset="-127"/>
                <a:ea typeface="Batang" panose="02030600000101010101" pitchFamily="18" charset="-127"/>
              </a:rPr>
              <a:t>형태의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 반투명 볼륨으로 렌더링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ko-KR" altLang="en-US" sz="14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직관성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붉은 구름 안으로 비행기나 위성이 들어가면 위험하다는 신호 직관적 전달</a:t>
            </a:r>
            <a:endParaRPr lang="en-US" altLang="ko-KR" sz="14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b="1" dirty="0">
                <a:latin typeface="Batang" panose="02030600000101010101" pitchFamily="18" charset="-127"/>
                <a:ea typeface="Batang" panose="02030600000101010101" pitchFamily="18" charset="-127"/>
              </a:rPr>
              <a:t>3. </a:t>
            </a:r>
            <a:r>
              <a:rPr lang="ko-KR" altLang="en-US" sz="1800" b="1" dirty="0">
                <a:latin typeface="Batang" panose="02030600000101010101" pitchFamily="18" charset="-127"/>
                <a:ea typeface="Batang" panose="02030600000101010101" pitchFamily="18" charset="-127"/>
              </a:rPr>
              <a:t>다단계 위험도 표시 </a:t>
            </a:r>
            <a:endParaRPr lang="en-US" altLang="ko-KR" sz="18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lvl="1">
              <a:lnSpc>
                <a:spcPct val="200000"/>
              </a:lnSpc>
            </a:pP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Color-Coding: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위험 수준에 따라 시각적 피드백 차별화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>
              <a:lnSpc>
                <a:spcPct val="200000"/>
              </a:lnSpc>
            </a:pPr>
            <a:endParaRPr kumimoji="1" lang="ko-KR" altLang="en-US" sz="1800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3652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1CE71-F601-B5BA-0297-66940F37A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D6154-CA31-0708-F9BD-E7DA177ED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웹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3D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1" lang="ko-KR" altLang="en-US" sz="3200" b="1" dirty="0" err="1">
                <a:latin typeface="Batang" panose="02030600000101010101" pitchFamily="18" charset="-127"/>
                <a:ea typeface="Batang" panose="02030600000101010101" pitchFamily="18" charset="-127"/>
              </a:rPr>
              <a:t>비주얼라이즈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-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맞춤형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API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솔루션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38C21-8830-0675-9741-78D47094A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4603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1800" b="1" dirty="0">
                <a:latin typeface="Batang" panose="02030600000101010101" pitchFamily="18" charset="-127"/>
                <a:ea typeface="Batang" panose="02030600000101010101" pitchFamily="18" charset="-127"/>
              </a:rPr>
              <a:t>1. </a:t>
            </a:r>
            <a:r>
              <a:rPr lang="ko-KR" altLang="en-US" sz="1800" b="1" dirty="0">
                <a:latin typeface="Batang" panose="02030600000101010101" pitchFamily="18" charset="-127"/>
                <a:ea typeface="Batang" panose="02030600000101010101" pitchFamily="18" charset="-127"/>
              </a:rPr>
              <a:t>서비스 개요 </a:t>
            </a:r>
            <a:endParaRPr lang="en-US" altLang="ko-KR" sz="18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lvl="1">
              <a:lnSpc>
                <a:spcPct val="200000"/>
              </a:lnSpc>
            </a:pP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목표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400" dirty="0" err="1">
                <a:latin typeface="Batang" panose="02030600000101010101" pitchFamily="18" charset="-127"/>
                <a:ea typeface="Batang" panose="02030600000101010101" pitchFamily="18" charset="-127"/>
              </a:rPr>
              <a:t>항공사및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 위성 운용사를 대상으로 한 자동화된 위험 회피 솔루션 제공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형태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 기존 관제 시스템에 손쉽게 연동 가능한 표준 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RESTful API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형태 제공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b="1" dirty="0">
                <a:latin typeface="Batang" panose="02030600000101010101" pitchFamily="18" charset="-127"/>
                <a:ea typeface="Batang" panose="02030600000101010101" pitchFamily="18" charset="-127"/>
              </a:rPr>
              <a:t>2. </a:t>
            </a:r>
            <a:r>
              <a:rPr lang="ko-KR" altLang="en-US" sz="1800" b="1" dirty="0">
                <a:latin typeface="Batang" panose="02030600000101010101" pitchFamily="18" charset="-127"/>
                <a:ea typeface="Batang" panose="02030600000101010101" pitchFamily="18" charset="-127"/>
              </a:rPr>
              <a:t>프로세스 로직 </a:t>
            </a:r>
            <a:endParaRPr lang="en-US" altLang="ko-KR" sz="1800" b="1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lvl="1">
              <a:lnSpc>
                <a:spcPct val="200000"/>
              </a:lnSpc>
            </a:pP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Step 1. </a:t>
            </a: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데이터 입력 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endParaRPr lang="en-US" altLang="ko-KR" sz="14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lvl="2">
              <a:lnSpc>
                <a:spcPct val="200000"/>
              </a:lnSpc>
            </a:pP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클라이언트가 현재 비행 항로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혹은 위성 궤도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데이터를 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JSON </a:t>
            </a: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포맷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으로 전송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lvl="1">
              <a:lnSpc>
                <a:spcPct val="200000"/>
              </a:lnSpc>
            </a:pP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Step 2. </a:t>
            </a: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안전성 평가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endParaRPr lang="en-US" altLang="ko-KR" sz="14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lvl="2">
              <a:lnSpc>
                <a:spcPct val="200000"/>
              </a:lnSpc>
            </a:pP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디지털 트윈 내 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3D 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위험 구역과의 교차 여부를 분석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lvl="2">
              <a:lnSpc>
                <a:spcPct val="200000"/>
              </a:lnSpc>
            </a:pP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자체 알고리즘을 통해 </a:t>
            </a: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지자기 교란 점수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및 </a:t>
            </a: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안전 점수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산출 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(0~100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점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).</a:t>
            </a:r>
          </a:p>
          <a:p>
            <a:pPr lvl="1">
              <a:lnSpc>
                <a:spcPct val="200000"/>
              </a:lnSpc>
            </a:pP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Step 3. </a:t>
            </a: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최적 항로 도출 </a:t>
            </a:r>
            <a:r>
              <a:rPr lang="en-US" altLang="ko-KR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endParaRPr lang="en-US" altLang="ko-KR" sz="14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lvl="2">
              <a:lnSpc>
                <a:spcPct val="200000"/>
              </a:lnSpc>
            </a:pP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안전 점수가 임계치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) 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이하일 경우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위험 구역을 우회하는 </a:t>
            </a: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최단 거리 최적 항로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를 자동 계산</a:t>
            </a:r>
            <a:r>
              <a:rPr lang="en-US" altLang="ko-KR" sz="1400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kumimoji="1" lang="ko-KR" altLang="en-US" sz="1800" dirty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87737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9079E-4FC1-F884-4BFF-74D8DF9DB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시장 도입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–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서비스 런칭 및 데이터 신뢰성 검증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F63778-4FD3-AC54-4119-4A969C97F3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70099"/>
            <a:ext cx="10945483" cy="4262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1. 웹 기반 MVP 오픈 베타 런칭 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목표: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일반 사용자 및 연구자가 즉시 접근 가능한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AWS 클라우드 기반 웹 서비스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배포.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내용: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오픈 베타 버전을 런칭하여 초기 사용자 피드백 확보 및 트래픽 데이터 수집.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2. 데이터 교차 검증 및 오차 보정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Ground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Truth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확보: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전 세계 지자기 관측소의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실측 데이터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를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기준값으로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확보.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물리 엔진 튜닝: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시뮬레이션 결과값과 실측 데이터를 대조 분석하여,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물리 모델의 오차율을 최소화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하는 파라미터 보정 작업 수행.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3. 서버리스 인프라 최적화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비용 효율성: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초기 트래픽 변동성을 예측하기 어려우므로, 고정 비용이 없는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AWS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Lambda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기반 서버리스 아키텍처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적용.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안정성 확보: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급격한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접속자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증가나 데이터 폭증 시에도 유연하게 대처할 수 있는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오토스케일링환경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구축 및 검증.</a:t>
            </a:r>
          </a:p>
        </p:txBody>
      </p:sp>
    </p:spTree>
    <p:extLst>
      <p:ext uri="{BB962C8B-B14F-4D97-AF65-F5344CB8AC3E}">
        <p14:creationId xmlns:p14="http://schemas.microsoft.com/office/powerpoint/2010/main" val="1517569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CCDA5-2CD9-BBCD-5727-973D446B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9EACC-557D-D1B7-4205-38B422478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시장 도입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–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B2B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전용 솔루션 및 맞춤형 경보 시스템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98EA2D-FF04-8D18-3AB0-1B7A49A6CF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66928"/>
            <a:ext cx="11031747" cy="608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1. 기업용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Private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API 개발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맞춤형 솔루션: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위성 운용사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,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항공사가 자사의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궤도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데이터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입력시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해당 경로에 특화된 분석 결과를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반환하는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Priva</a:t>
            </a:r>
            <a:r>
              <a:rPr kumimoji="0" lang="en-US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te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API 개발.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핵심 반환 데이터: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914400" lvl="2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지자기 교란 점수 (GDS):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경로상의 자기장 불안정성 수치화.</a:t>
            </a:r>
          </a:p>
          <a:p>
            <a:pPr marL="914400" lvl="2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Risk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Timing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위험 구역 진입 및 이탈 예상 시각.</a:t>
            </a:r>
          </a:p>
          <a:p>
            <a:pPr marL="914400" lvl="2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Damage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Estimation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예상 피해 수준 및 최적 대체 경로제안.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2. AWS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ParallelCluster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기반 고해상도 연산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인프라 고도화: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AWS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ParallelCluster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를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도입하여 대규모 고해상도 격자 연산 환경 가동.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초정밀 분해능: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mm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단위의 고성능 분해능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을 달성하여, 유료 고객이 만족할 수 있는 정밀 자기장 변화 데이터 제공.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3. 시장 진입 전략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SaaS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모델 전환: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구축된 솔루션을 소프트웨어 설치가 필요 없는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SaaS</a:t>
            </a:r>
            <a:r>
              <a:rPr lang="ko-KR" altLang="en-US" sz="14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형태로 패키징.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판로 개척: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AWS Marketplace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에 정식 상품으로 등록하여, 글로벌 항공/우주 기업들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의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비즈니스 생태계 진입.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97953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B9537-6D8F-AD54-F24D-67B72178E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6999B4-D243-4546-F85C-EFDC6FDE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시장 도입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–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1" lang="en-US" altLang="ko-KR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AI</a:t>
            </a:r>
            <a:r>
              <a:rPr kumimoji="1" lang="ko-KR" altLang="en-US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 기반 기술 확장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0705A6-606A-47F1-46AD-B7D312843E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62543"/>
            <a:ext cx="11143268" cy="327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1. AI 기반 우주 날씨 예보 시스템 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현재의 실시간 중계수준을 넘어, 미래를 내다보는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예보시스템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으로 진화.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AWS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SageMaker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활용: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축적된 Data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Lake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데이터를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AWS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SageMaker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딥러닝 모델에 학습시켜, 태양 활동의 패턴을 분석.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24~48시간 사전 예측: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태양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운동을 분석하여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24~48시간 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에 자기권 변화와 위험도를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경보하는</a:t>
            </a:r>
            <a:r>
              <a:rPr lang="ko-KR" altLang="en-US" sz="1400" dirty="0"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우주 일기예보 구현.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2. 차세대 행성 탐사 솔루션 확장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Multi-Planet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Scalability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지구 자기권 물리 엔진을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화성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등 자기장이 없거나 약한 타 행성 환경에 맞게 파라미터 튜닝 및 이식.</a:t>
            </a:r>
          </a:p>
          <a:p>
            <a:pPr marL="457200" lvl="1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유인 탐사 지원: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 차세대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유인 우주선 및 화성 기지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건설 시, 필수적인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방사선 차폐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시뮬레이션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</a:rPr>
              <a:t> 및 최적 안전 구역 도출 기술로 확장.</a:t>
            </a:r>
          </a:p>
        </p:txBody>
      </p:sp>
    </p:spTree>
    <p:extLst>
      <p:ext uri="{BB962C8B-B14F-4D97-AF65-F5344CB8AC3E}">
        <p14:creationId xmlns:p14="http://schemas.microsoft.com/office/powerpoint/2010/main" val="446589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1979</Words>
  <Application>Microsoft Macintosh PowerPoint</Application>
  <PresentationFormat>와이드스크린</PresentationFormat>
  <Paragraphs>196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Batang</vt:lpstr>
      <vt:lpstr>Arial</vt:lpstr>
      <vt:lpstr>Cambria Math</vt:lpstr>
      <vt:lpstr>Office 테마</vt:lpstr>
      <vt:lpstr>AWS HPC 기반 실시간  지구 자기권 3D 디지털 트윈</vt:lpstr>
      <vt:lpstr>목차</vt:lpstr>
      <vt:lpstr>문제 제기 배경</vt:lpstr>
      <vt:lpstr>문제 제기 배경 </vt:lpstr>
      <vt:lpstr>핵심 니즈</vt:lpstr>
      <vt:lpstr>솔루션 소개</vt:lpstr>
      <vt:lpstr>자기권계면 3D 랜더링</vt:lpstr>
      <vt:lpstr>위험 구역 시각화</vt:lpstr>
      <vt:lpstr>실시간 물리 엔진 – Chapman-Ferraro 모델 동적 구현</vt:lpstr>
      <vt:lpstr>실시간 물리 엔진 – 실시간 위성 데이터 동기화</vt:lpstr>
      <vt:lpstr>실시간 물리 엔진 – 자기장 변형 시뮬레이션</vt:lpstr>
      <vt:lpstr>AWS 기반 초고속 연산 시스템-HPC 클러스터</vt:lpstr>
      <vt:lpstr>AWS 기반 초고속 연산 시스템-이벤트 기반 오토스케일링</vt:lpstr>
      <vt:lpstr>AWS 기반 초고속 연산 시스템-서버리스 데이터 파이프라인</vt:lpstr>
      <vt:lpstr>웹 3D 비주얼라이즈 – WebGL 기반 3D 렌더링</vt:lpstr>
      <vt:lpstr>웹 3D 비주얼라이즈 – 동적 위험 구역 시각화</vt:lpstr>
      <vt:lpstr>웹 3D 비주얼라이즈- 맞춤형 API 솔루션</vt:lpstr>
      <vt:lpstr>시장 도입 – 서비스 런칭 및 데이터 신뢰성 검증</vt:lpstr>
      <vt:lpstr>시장 도입 – B2B 전용 솔루션 및 맞춤형 경보 시스템</vt:lpstr>
      <vt:lpstr>시장 도입 – AI 기반 기술 확장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Jungwoo Hong</dc:creator>
  <cp:lastModifiedBy>서동주</cp:lastModifiedBy>
  <cp:revision>5</cp:revision>
  <dcterms:created xsi:type="dcterms:W3CDTF">2025-12-23T07:28:49Z</dcterms:created>
  <dcterms:modified xsi:type="dcterms:W3CDTF">2025-12-23T14:39:48Z</dcterms:modified>
</cp:coreProperties>
</file>